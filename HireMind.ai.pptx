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9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7406640" y="-457200"/>
            <a:ext cx="3200400" cy="7680960"/>
          </a:xfrm>
          <a:prstGeom prst="parallelogram">
            <a:avLst/>
          </a:prstGeom>
          <a:solidFill>
            <a:srgbClr val="151D39"/>
          </a:solidFill>
          <a:ln>
            <a:solidFill>
              <a:srgbClr val="151D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8549640" y="-457200"/>
            <a:ext cx="3200400" cy="7680960"/>
          </a:xfrm>
          <a:prstGeom prst="parallelogram">
            <a:avLst/>
          </a:prstGeom>
          <a:solidFill>
            <a:srgbClr val="1D2748"/>
          </a:solidFill>
          <a:ln>
            <a:solidFill>
              <a:srgbClr val="1D2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9738360" y="-457200"/>
            <a:ext cx="2834640" cy="7680960"/>
          </a:xfrm>
          <a:prstGeom prst="parallelogram">
            <a:avLst/>
          </a:prstGeom>
          <a:solidFill>
            <a:srgbClr val="26345C"/>
          </a:solidFill>
          <a:ln>
            <a:solidFill>
              <a:srgbClr val="263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229600" y="1051560"/>
            <a:ext cx="1417320" cy="1417320"/>
          </a:xfrm>
          <a:prstGeom prst="ellipse">
            <a:avLst/>
          </a:prstGeom>
          <a:solidFill>
            <a:srgbClr val="C6FF58"/>
          </a:solidFill>
          <a:ln>
            <a:solidFill>
              <a:srgbClr val="C6F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646920" y="2606040"/>
            <a:ext cx="1737360" cy="1737360"/>
          </a:xfrm>
          <a:prstGeom prst="ellipse">
            <a:avLst/>
          </a:prstGeom>
          <a:solidFill>
            <a:srgbClr val="3CE0D8"/>
          </a:solidFill>
          <a:ln>
            <a:solidFill>
              <a:srgbClr val="3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909560" y="4160520"/>
            <a:ext cx="914400" cy="914400"/>
          </a:xfrm>
          <a:prstGeom prst="ellipse">
            <a:avLst/>
          </a:prstGeom>
          <a:solidFill>
            <a:srgbClr val="9778FF"/>
          </a:solidFill>
          <a:ln>
            <a:solidFill>
              <a:srgbClr val="97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469880" y="4754880"/>
            <a:ext cx="594360" cy="594360"/>
          </a:xfrm>
          <a:prstGeom prst="ellipse">
            <a:avLst/>
          </a:prstGeom>
          <a:solidFill>
            <a:srgbClr val="FF6B9D"/>
          </a:solidFill>
          <a:ln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566928"/>
            <a:ext cx="45720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C6FF58"/>
                </a:solidFill>
                <a:latin typeface="Aptos"/>
              </a:rPr>
              <a:t>PROJECT SHOWCASE     /   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325880"/>
            <a:ext cx="6583680" cy="10972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800" b="1" i="0">
                <a:solidFill>
                  <a:srgbClr val="F8FAFF"/>
                </a:solidFill>
                <a:latin typeface="Aptos"/>
              </a:rPr>
              <a:t>HireMind.ai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578608"/>
            <a:ext cx="6217920" cy="10058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 i="0">
                <a:solidFill>
                  <a:srgbClr val="BCC6DD"/>
                </a:solidFill>
                <a:latin typeface="Aptos"/>
              </a:rPr>
              <a:t>The smarter way to</a:t>
            </a:r>
          </a:p>
          <a:p>
            <a:pPr algn="l">
              <a:spcAft>
                <a:spcPts val="400"/>
              </a:spcAft>
            </a:pPr>
            <a:r>
              <a:rPr sz="2300" b="0" i="0">
                <a:solidFill>
                  <a:srgbClr val="BCC6DD"/>
                </a:solidFill>
                <a:latin typeface="Aptos"/>
              </a:rPr>
              <a:t>connect talent with opportunity.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" y="3886200"/>
            <a:ext cx="822960" cy="54864"/>
          </a:xfrm>
          <a:prstGeom prst="rect">
            <a:avLst/>
          </a:prstGeom>
          <a:solidFill>
            <a:srgbClr val="C6FF58"/>
          </a:solidFill>
          <a:ln>
            <a:solidFill>
              <a:srgbClr val="C6F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4187952"/>
            <a:ext cx="612648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8FAFF"/>
                </a:solidFill>
                <a:latin typeface="Aptos"/>
              </a:rPr>
              <a:t>INTELLIGENT JOB RECRUITMENT &amp; RECOMMENDATION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4709160"/>
            <a:ext cx="6217920" cy="69352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1200" b="1" i="0" dirty="0">
                <a:solidFill>
                  <a:srgbClr val="BCC6DD"/>
                </a:solidFill>
                <a:latin typeface="Aptos"/>
              </a:rPr>
              <a:t>1. </a:t>
            </a:r>
            <a:r>
              <a:rPr sz="1200" b="1" i="0" dirty="0">
                <a:solidFill>
                  <a:srgbClr val="BCC6DD"/>
                </a:solidFill>
                <a:latin typeface="Aptos"/>
              </a:rPr>
              <a:t>Himanshu Rauniyar</a:t>
            </a:r>
            <a:r>
              <a:rPr lang="en-US" sz="1200" b="1" i="0" dirty="0">
                <a:solidFill>
                  <a:srgbClr val="BCC6DD"/>
                </a:solidFill>
                <a:latin typeface="Aptos"/>
              </a:rPr>
              <a:t>(252123010)</a:t>
            </a:r>
          </a:p>
          <a:p>
            <a:pPr algn="l">
              <a:spcAft>
                <a:spcPts val="400"/>
              </a:spcAft>
            </a:pPr>
            <a:r>
              <a:rPr lang="en-IN" sz="1200" b="1" dirty="0">
                <a:solidFill>
                  <a:srgbClr val="BCC6DD"/>
                </a:solidFill>
                <a:latin typeface="Aptos"/>
              </a:rPr>
              <a:t>2. </a:t>
            </a:r>
            <a:r>
              <a:rPr sz="1200" b="1" i="0" dirty="0">
                <a:solidFill>
                  <a:srgbClr val="BCC6DD"/>
                </a:solidFill>
                <a:latin typeface="Aptos"/>
              </a:rPr>
              <a:t>Piyush Meena</a:t>
            </a:r>
            <a:r>
              <a:rPr lang="en-US" sz="1200" b="1" i="0" dirty="0">
                <a:solidFill>
                  <a:srgbClr val="BCC6DD"/>
                </a:solidFill>
                <a:latin typeface="Aptos"/>
              </a:rPr>
              <a:t>(252123020)</a:t>
            </a:r>
          </a:p>
          <a:p>
            <a:pPr algn="l">
              <a:spcAft>
                <a:spcPts val="400"/>
              </a:spcAft>
            </a:pPr>
            <a:r>
              <a:rPr lang="en-IN" sz="1200" b="1" dirty="0">
                <a:solidFill>
                  <a:srgbClr val="BCC6DD"/>
                </a:solidFill>
                <a:latin typeface="Aptos"/>
              </a:rPr>
              <a:t>3. </a:t>
            </a:r>
            <a:r>
              <a:rPr sz="1200" b="1" i="0" dirty="0" err="1">
                <a:solidFill>
                  <a:srgbClr val="BCC6DD"/>
                </a:solidFill>
                <a:latin typeface="Aptos"/>
              </a:rPr>
              <a:t>Kanheya</a:t>
            </a:r>
            <a:r>
              <a:rPr sz="1200" b="1" i="0" dirty="0">
                <a:solidFill>
                  <a:srgbClr val="BCC6DD"/>
                </a:solidFill>
                <a:latin typeface="Aptos"/>
              </a:rPr>
              <a:t> Verma</a:t>
            </a:r>
            <a:r>
              <a:rPr lang="en-US" sz="1200" b="1" i="0" dirty="0">
                <a:solidFill>
                  <a:srgbClr val="BCC6DD"/>
                </a:solidFill>
                <a:latin typeface="Aptos"/>
              </a:rPr>
              <a:t>(252123011)</a:t>
            </a:r>
            <a:endParaRPr sz="1200" b="1" i="0" dirty="0">
              <a:solidFill>
                <a:srgbClr val="BCC6DD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04672" y="5623560"/>
            <a:ext cx="1508760" cy="320040"/>
          </a:xfrm>
          <a:prstGeom prst="roundRect">
            <a:avLst/>
          </a:prstGeom>
          <a:solidFill>
            <a:srgbClr val="1D2748"/>
          </a:solidFill>
          <a:ln>
            <a:solidFill>
              <a:srgbClr val="1D2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7824" y="5696712"/>
            <a:ext cx="1362456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 i="0">
                <a:solidFill>
                  <a:srgbClr val="C6FF58"/>
                </a:solidFill>
                <a:latin typeface="Aptos"/>
              </a:rPr>
              <a:t>LIVE ON VERCEL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50592" y="5623560"/>
            <a:ext cx="1600200" cy="320040"/>
          </a:xfrm>
          <a:prstGeom prst="roundRect">
            <a:avLst/>
          </a:prstGeom>
          <a:solidFill>
            <a:srgbClr val="1D2748"/>
          </a:solidFill>
          <a:ln>
            <a:solidFill>
              <a:srgbClr val="1D2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523744" y="5696712"/>
            <a:ext cx="1453896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 i="0">
                <a:solidFill>
                  <a:srgbClr val="3CE0D8"/>
                </a:solidFill>
                <a:latin typeface="Aptos"/>
              </a:rPr>
              <a:t>CONVEX BACKEND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6217920"/>
            <a:ext cx="36576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 i="0">
                <a:solidFill>
                  <a:srgbClr val="7E8DAE"/>
                </a:solidFill>
                <a:latin typeface="Aptos"/>
              </a:rPr>
              <a:t>MSc MATHEMATICS &amp; COMPUTING  •  IITG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73152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5C49DB"/>
                </a:solidFill>
                <a:latin typeface="Aptos"/>
              </a:rPr>
              <a:t>01  /  THE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181F37"/>
                </a:solidFill>
                <a:latin typeface="Aptos"/>
              </a:rPr>
              <a:t>Job search has a relevance problem.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7899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A7691"/>
                </a:solidFill>
                <a:latin typeface="Aptos"/>
              </a:rPr>
              <a:t>A good role is more than a title match.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36576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 i="0">
                <a:solidFill>
                  <a:srgbClr val="6A7691"/>
                </a:solidFill>
                <a:latin typeface="Aptos"/>
              </a:rPr>
              <a:t>HIREMIND.AI     /     IIT GUWAHATI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6A7691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4572000" cy="3520440"/>
          </a:xfrm>
          <a:prstGeom prst="roundRect">
            <a:avLst/>
          </a:prstGeom>
          <a:solidFill>
            <a:srgbClr val="0B1023"/>
          </a:solidFill>
          <a:ln>
            <a:solidFill>
              <a:srgbClr val="0B10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176272"/>
            <a:ext cx="384048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C6FF58"/>
                </a:solidFill>
                <a:latin typeface="Aptos"/>
              </a:rPr>
              <a:t>~55,000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761488"/>
            <a:ext cx="36576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8FAFF"/>
                </a:solidFill>
                <a:latin typeface="Aptos"/>
              </a:rPr>
              <a:t>unique raw job titles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337560"/>
            <a:ext cx="3749039" cy="9144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BCC6DD"/>
                </a:solidFill>
                <a:latin typeface="Aptos"/>
              </a:rPr>
              <a:t>Different wording can hide similar roles. Inconsistent skills, salaries and descriptions make matching harder.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7552" y="4736592"/>
            <a:ext cx="2057400" cy="320040"/>
          </a:xfrm>
          <a:prstGeom prst="roundRect">
            <a:avLst/>
          </a:prstGeom>
          <a:solidFill>
            <a:srgbClr val="1D2748"/>
          </a:solidFill>
          <a:ln>
            <a:solidFill>
              <a:srgbClr val="1D2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60704" y="4809744"/>
            <a:ext cx="1911095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 i="0">
                <a:solidFill>
                  <a:srgbClr val="C6FF58"/>
                </a:solidFill>
                <a:latin typeface="Aptos"/>
              </a:rPr>
              <a:t>STANDARDIZE → MATCH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1920240"/>
            <a:ext cx="512064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 i="0">
                <a:solidFill>
                  <a:srgbClr val="181F37"/>
                </a:solidFill>
                <a:latin typeface="Aptos"/>
              </a:rPr>
              <a:t>The challenge</a:t>
            </a:r>
          </a:p>
        </p:txBody>
      </p:sp>
      <p:sp>
        <p:nvSpPr>
          <p:cNvPr id="14" name="Oval 13"/>
          <p:cNvSpPr/>
          <p:nvPr/>
        </p:nvSpPr>
        <p:spPr>
          <a:xfrm>
            <a:off x="5852160" y="2670048"/>
            <a:ext cx="82296" cy="82296"/>
          </a:xfrm>
          <a:prstGeom prst="ellipse">
            <a:avLst/>
          </a:prstGeom>
          <a:solidFill>
            <a:srgbClr val="5C49DB"/>
          </a:solidFill>
          <a:ln>
            <a:solidFill>
              <a:srgbClr val="5C49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35040" y="2578608"/>
            <a:ext cx="484632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A7691"/>
                </a:solidFill>
                <a:latin typeface="Aptos"/>
              </a:rPr>
              <a:t>Job descriptions contain noisy HTML and inconsistent text.</a:t>
            </a:r>
          </a:p>
        </p:txBody>
      </p:sp>
      <p:sp>
        <p:nvSpPr>
          <p:cNvPr id="16" name="Oval 15"/>
          <p:cNvSpPr/>
          <p:nvPr/>
        </p:nvSpPr>
        <p:spPr>
          <a:xfrm>
            <a:off x="5852160" y="3337560"/>
            <a:ext cx="82296" cy="82296"/>
          </a:xfrm>
          <a:prstGeom prst="ellipse">
            <a:avLst/>
          </a:prstGeom>
          <a:solidFill>
            <a:srgbClr val="3CE0D8"/>
          </a:solidFill>
          <a:ln>
            <a:solidFill>
              <a:srgbClr val="3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35040" y="3246120"/>
            <a:ext cx="484632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A7691"/>
                </a:solidFill>
                <a:latin typeface="Aptos"/>
              </a:rPr>
              <a:t>Skills appear with aliases, spelling variants and different formats.</a:t>
            </a:r>
          </a:p>
        </p:txBody>
      </p:sp>
      <p:sp>
        <p:nvSpPr>
          <p:cNvPr id="18" name="Oval 17"/>
          <p:cNvSpPr/>
          <p:nvPr/>
        </p:nvSpPr>
        <p:spPr>
          <a:xfrm>
            <a:off x="5852160" y="4005072"/>
            <a:ext cx="82296" cy="82296"/>
          </a:xfrm>
          <a:prstGeom prst="ellipse">
            <a:avLst/>
          </a:prstGeom>
          <a:solidFill>
            <a:srgbClr val="FF6B9D"/>
          </a:solidFill>
          <a:ln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35040" y="3913632"/>
            <a:ext cx="484632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A7691"/>
                </a:solidFill>
                <a:latin typeface="Aptos"/>
              </a:rPr>
              <a:t>Candidates balance skills, role, experience and salary expectations.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0" y="4709160"/>
            <a:ext cx="685800" cy="45720"/>
          </a:xfrm>
          <a:prstGeom prst="rect">
            <a:avLst/>
          </a:prstGeom>
          <a:solidFill>
            <a:srgbClr val="5C49DB"/>
          </a:solidFill>
          <a:ln>
            <a:solidFill>
              <a:srgbClr val="5C49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852160" y="4956048"/>
            <a:ext cx="5120640" cy="7772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81F37"/>
                </a:solidFill>
                <a:latin typeface="Aptos"/>
              </a:rPr>
              <a:t>HireMind.ai turns fragmented listings into structured data and a recommendation-oriented experience.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9672"/>
            <a:ext cx="36576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 i="0">
                <a:solidFill>
                  <a:srgbClr val="6A7691"/>
                </a:solidFill>
                <a:latin typeface="Aptos"/>
              </a:rPr>
              <a:t>HIREMIND.AI     /     IIT GUWAHATI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6A7691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73152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C6FF58"/>
                </a:solidFill>
                <a:latin typeface="Aptos"/>
              </a:rPr>
              <a:t>02  /  PRODUCT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8FAFF"/>
                </a:solidFill>
                <a:latin typeface="Aptos"/>
              </a:rPr>
              <a:t>One product. Four connected layers.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7899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BCC6DD"/>
                </a:solidFill>
                <a:latin typeface="Aptos"/>
              </a:rPr>
              <a:t>The completed workflow from source data to deployed experience.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36576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 i="0">
                <a:solidFill>
                  <a:srgbClr val="7E8DAE"/>
                </a:solidFill>
                <a:latin typeface="Aptos"/>
              </a:rPr>
              <a:t>HIREMIND.AI     /     IIT GUWAHATI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7E8DAE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03120"/>
            <a:ext cx="2514600" cy="1920240"/>
          </a:xfrm>
          <a:prstGeom prst="roundRect">
            <a:avLst/>
          </a:prstGeom>
          <a:solidFill>
            <a:srgbClr val="151D39"/>
          </a:solidFill>
          <a:ln>
            <a:solidFill>
              <a:srgbClr val="151D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2331720"/>
            <a:ext cx="54864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C6FF58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88920"/>
            <a:ext cx="21031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8FAFF"/>
                </a:solidFill>
                <a:latin typeface="Aptos"/>
              </a:rPr>
              <a:t>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310128"/>
            <a:ext cx="210312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BCC6DD"/>
                </a:solidFill>
                <a:latin typeface="Aptos"/>
              </a:rPr>
              <a:t>Clean + standardize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27832" y="2852928"/>
            <a:ext cx="292608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C6FF58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2103120"/>
            <a:ext cx="2514600" cy="1920240"/>
          </a:xfrm>
          <a:prstGeom prst="roundRect">
            <a:avLst/>
          </a:prstGeom>
          <a:solidFill>
            <a:srgbClr val="151D39"/>
          </a:solidFill>
          <a:ln>
            <a:solidFill>
              <a:srgbClr val="151D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67328" y="2331720"/>
            <a:ext cx="54864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3CE0D8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67328" y="2788920"/>
            <a:ext cx="21031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8FAFF"/>
                </a:solidFill>
                <a:latin typeface="Aptos"/>
              </a:rPr>
              <a:t>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67328" y="3310128"/>
            <a:ext cx="210312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BCC6DD"/>
                </a:solidFill>
                <a:latin typeface="Aptos"/>
              </a:rPr>
              <a:t>Represent + rank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08192" y="2852928"/>
            <a:ext cx="292608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C6FF58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2103120"/>
            <a:ext cx="2514600" cy="1920240"/>
          </a:xfrm>
          <a:prstGeom prst="roundRect">
            <a:avLst/>
          </a:prstGeom>
          <a:solidFill>
            <a:srgbClr val="151D39"/>
          </a:solidFill>
          <a:ln>
            <a:solidFill>
              <a:srgbClr val="151D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47688" y="2331720"/>
            <a:ext cx="54864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9778FF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7688" y="2788920"/>
            <a:ext cx="21031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8FAFF"/>
                </a:solidFill>
                <a:latin typeface="Aptos"/>
              </a:rPr>
              <a:t>BACKEND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7688" y="3310128"/>
            <a:ext cx="210312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BCC6DD"/>
                </a:solidFill>
                <a:latin typeface="Aptos"/>
              </a:rPr>
              <a:t>Store + serve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88552" y="2852928"/>
            <a:ext cx="292608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C6FF58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26880" y="2103120"/>
            <a:ext cx="2514600" cy="1920240"/>
          </a:xfrm>
          <a:prstGeom prst="roundRect">
            <a:avLst/>
          </a:prstGeom>
          <a:solidFill>
            <a:srgbClr val="151D39"/>
          </a:solidFill>
          <a:ln>
            <a:solidFill>
              <a:srgbClr val="151D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528048" y="2331720"/>
            <a:ext cx="54864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6B9D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28048" y="2788920"/>
            <a:ext cx="21031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8FAFF"/>
                </a:solidFill>
                <a:latin typeface="Aptos"/>
              </a:rPr>
              <a:t>WEB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28048" y="3310128"/>
            <a:ext cx="210312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BCC6DD"/>
                </a:solidFill>
                <a:latin typeface="Aptos"/>
              </a:rPr>
              <a:t>Discover + interact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4709160"/>
            <a:ext cx="10607040" cy="658368"/>
          </a:xfrm>
          <a:prstGeom prst="roundRect">
            <a:avLst/>
          </a:prstGeom>
          <a:solidFill>
            <a:srgbClr val="1D2748"/>
          </a:solidFill>
          <a:ln>
            <a:solidFill>
              <a:srgbClr val="1D2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5840" y="4901184"/>
            <a:ext cx="100584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8FAFF"/>
                </a:solidFill>
                <a:latin typeface="Aptos"/>
              </a:rPr>
              <a:t>PYTHON / PANDAS     →     TF-IDF     →     CONVEX     →     NEXT.JS ON VERCEL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73152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5C49DB"/>
                </a:solidFill>
                <a:latin typeface="Aptos"/>
              </a:rPr>
              <a:t>03  /  DATA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181F37"/>
                </a:solidFill>
                <a:latin typeface="Aptos"/>
              </a:rPr>
              <a:t>A large dataset, made usable.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7899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A7691"/>
                </a:solidFill>
                <a:latin typeface="Aptos"/>
              </a:rPr>
              <a:t>Reported project dataset statistics.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36576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 i="0">
                <a:solidFill>
                  <a:srgbClr val="6A7691"/>
                </a:solidFill>
                <a:latin typeface="Aptos"/>
              </a:rPr>
              <a:t>HIREMIND.AI     /     IIT GUWAHATI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6A7691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65960"/>
            <a:ext cx="2542032" cy="1508760"/>
          </a:xfrm>
          <a:prstGeom prst="roundRect">
            <a:avLst/>
          </a:prstGeom>
          <a:solidFill>
            <a:srgbClr val="F8FAFF"/>
          </a:solidFill>
          <a:ln>
            <a:solidFill>
              <a:srgbClr val="E0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221992"/>
            <a:ext cx="219456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5C49DB"/>
                </a:solidFill>
                <a:latin typeface="Aptos"/>
              </a:rPr>
              <a:t>97,104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71216"/>
            <a:ext cx="21945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6A7691"/>
                </a:solidFill>
                <a:latin typeface="Aptos"/>
              </a:rPr>
              <a:t>JOB RECORDS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965960"/>
            <a:ext cx="2542032" cy="1508760"/>
          </a:xfrm>
          <a:prstGeom prst="roundRect">
            <a:avLst/>
          </a:prstGeom>
          <a:solidFill>
            <a:srgbClr val="F8FAFF"/>
          </a:solidFill>
          <a:ln>
            <a:solidFill>
              <a:srgbClr val="E0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49039" y="2221992"/>
            <a:ext cx="219456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09188"/>
                </a:solidFill>
                <a:latin typeface="Aptos"/>
              </a:rPr>
              <a:t>18,206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871216"/>
            <a:ext cx="21945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6A7691"/>
                </a:solidFill>
                <a:latin typeface="Aptos"/>
              </a:rPr>
              <a:t>COMPANIES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1965960"/>
            <a:ext cx="2542032" cy="1508760"/>
          </a:xfrm>
          <a:prstGeom prst="roundRect">
            <a:avLst/>
          </a:prstGeom>
          <a:solidFill>
            <a:srgbClr val="F8FAFF"/>
          </a:solidFill>
          <a:ln>
            <a:solidFill>
              <a:srgbClr val="E0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29400" y="2221992"/>
            <a:ext cx="219456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DA5B89"/>
                </a:solidFill>
                <a:latin typeface="Aptos"/>
              </a:rPr>
              <a:t>44,020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871216"/>
            <a:ext cx="21945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6A7691"/>
                </a:solidFill>
                <a:latin typeface="Aptos"/>
              </a:rPr>
              <a:t>UNIQUE SKILLS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0" y="1965960"/>
            <a:ext cx="2542032" cy="1508760"/>
          </a:xfrm>
          <a:prstGeom prst="roundRect">
            <a:avLst/>
          </a:prstGeom>
          <a:solidFill>
            <a:srgbClr val="F8FAFF"/>
          </a:solidFill>
          <a:ln>
            <a:solidFill>
              <a:srgbClr val="E0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509759" y="2221992"/>
            <a:ext cx="219456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506FDE"/>
                </a:solidFill>
                <a:latin typeface="Aptos"/>
              </a:rPr>
              <a:t>100,000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59" y="2871216"/>
            <a:ext cx="21945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6A7691"/>
                </a:solidFill>
                <a:latin typeface="Aptos"/>
              </a:rPr>
              <a:t>SYNTHETIC USERS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977639"/>
            <a:ext cx="45720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81F37"/>
                </a:solidFill>
                <a:latin typeface="Aptos"/>
              </a:rPr>
              <a:t>Source → structured entities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526280"/>
            <a:ext cx="1874519" cy="685800"/>
          </a:xfrm>
          <a:prstGeom prst="roundRect">
            <a:avLst/>
          </a:prstGeom>
          <a:solidFill>
            <a:srgbClr val="F8FAFF"/>
          </a:solidFill>
          <a:ln>
            <a:solidFill>
              <a:srgbClr val="E0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14400" y="4754880"/>
            <a:ext cx="146304" cy="146304"/>
          </a:xfrm>
          <a:prstGeom prst="ellipse">
            <a:avLst/>
          </a:prstGeom>
          <a:solidFill>
            <a:srgbClr val="6F53EE"/>
          </a:solidFill>
          <a:ln>
            <a:solidFill>
              <a:srgbClr val="6F5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61288" y="4718304"/>
            <a:ext cx="1353312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81F37"/>
                </a:solidFill>
                <a:latin typeface="Aptos"/>
              </a:rPr>
              <a:t>Jobs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17520" y="4526280"/>
            <a:ext cx="1874519" cy="685800"/>
          </a:xfrm>
          <a:prstGeom prst="roundRect">
            <a:avLst/>
          </a:prstGeom>
          <a:solidFill>
            <a:srgbClr val="F8FAFF"/>
          </a:solidFill>
          <a:ln>
            <a:solidFill>
              <a:srgbClr val="E0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3154680" y="4754880"/>
            <a:ext cx="146304" cy="146304"/>
          </a:xfrm>
          <a:prstGeom prst="ellipse">
            <a:avLst/>
          </a:prstGeom>
          <a:solidFill>
            <a:srgbClr val="3CE0D8"/>
          </a:solidFill>
          <a:ln>
            <a:solidFill>
              <a:srgbClr val="3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401568" y="4718304"/>
            <a:ext cx="1353312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81F37"/>
                </a:solidFill>
                <a:latin typeface="Aptos"/>
              </a:rPr>
              <a:t>Companies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57800" y="4526280"/>
            <a:ext cx="1874519" cy="685800"/>
          </a:xfrm>
          <a:prstGeom prst="roundRect">
            <a:avLst/>
          </a:prstGeom>
          <a:solidFill>
            <a:srgbClr val="F8FAFF"/>
          </a:solidFill>
          <a:ln>
            <a:solidFill>
              <a:srgbClr val="E0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5394960" y="4754880"/>
            <a:ext cx="146304" cy="146304"/>
          </a:xfrm>
          <a:prstGeom prst="ellipse">
            <a:avLst/>
          </a:prstGeom>
          <a:solidFill>
            <a:srgbClr val="FF6B9D"/>
          </a:solidFill>
          <a:ln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641848" y="4718304"/>
            <a:ext cx="1353312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81F37"/>
                </a:solidFill>
                <a:latin typeface="Aptos"/>
              </a:rPr>
              <a:t>Skills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80" y="4526280"/>
            <a:ext cx="1874519" cy="685800"/>
          </a:xfrm>
          <a:prstGeom prst="roundRect">
            <a:avLst/>
          </a:prstGeom>
          <a:solidFill>
            <a:srgbClr val="F8FAFF"/>
          </a:solidFill>
          <a:ln>
            <a:solidFill>
              <a:srgbClr val="E0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7635240" y="4754880"/>
            <a:ext cx="146304" cy="146304"/>
          </a:xfrm>
          <a:prstGeom prst="ellipse">
            <a:avLst/>
          </a:prstGeom>
          <a:solidFill>
            <a:srgbClr val="9778FF"/>
          </a:solidFill>
          <a:ln>
            <a:solidFill>
              <a:srgbClr val="97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882128" y="4718304"/>
            <a:ext cx="1353312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81F37"/>
                </a:solidFill>
                <a:latin typeface="Aptos"/>
              </a:rPr>
              <a:t>Users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38360" y="4526280"/>
            <a:ext cx="1874519" cy="685800"/>
          </a:xfrm>
          <a:prstGeom prst="roundRect">
            <a:avLst/>
          </a:prstGeom>
          <a:solidFill>
            <a:srgbClr val="F8FAFF"/>
          </a:solidFill>
          <a:ln>
            <a:solidFill>
              <a:srgbClr val="E0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9875520" y="4754880"/>
            <a:ext cx="146304" cy="146304"/>
          </a:xfrm>
          <a:prstGeom prst="ellipse">
            <a:avLst/>
          </a:prstGeom>
          <a:solidFill>
            <a:srgbClr val="009188"/>
          </a:solidFill>
          <a:ln>
            <a:solidFill>
              <a:srgbClr val="0091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122408" y="4718304"/>
            <a:ext cx="1353312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81F37"/>
                </a:solidFill>
                <a:latin typeface="Aptos"/>
              </a:rPr>
              <a:t>Applications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5623560"/>
            <a:ext cx="105156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1">
                <a:solidFill>
                  <a:srgbClr val="6A7691"/>
                </a:solidFill>
                <a:latin typeface="Aptos"/>
              </a:rPr>
              <a:t>Initial data: 97,929 job records across 17 attributes. Final counts are from project reports.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519672"/>
            <a:ext cx="36576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 i="0">
                <a:solidFill>
                  <a:srgbClr val="6A7691"/>
                </a:solidFill>
                <a:latin typeface="Aptos"/>
              </a:rPr>
              <a:t>HIREMIND.AI     /     IIT GUWAHATI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6A7691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73152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C6FF58"/>
                </a:solidFill>
                <a:latin typeface="Aptos"/>
              </a:rPr>
              <a:t>04  /  DATA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8FAFF"/>
                </a:solidFill>
                <a:latin typeface="Aptos"/>
              </a:rPr>
              <a:t>The quality work behind the product.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7899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BCC6DD"/>
                </a:solidFill>
                <a:latin typeface="Aptos"/>
              </a:rPr>
              <a:t>Preprocessing makes the recommendation pipeline more consistent.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36576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 i="0">
                <a:solidFill>
                  <a:srgbClr val="7E8DAE"/>
                </a:solidFill>
                <a:latin typeface="Aptos"/>
              </a:rPr>
              <a:t>HIREMIND.AI     /     IIT GUWAHATI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7E8DAE"/>
                </a:solidFill>
                <a:latin typeface="Aptos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45720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C6FF58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783080"/>
            <a:ext cx="246888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8FAFF"/>
                </a:solidFill>
                <a:latin typeface="Aptos"/>
              </a:rPr>
              <a:t>Deduplication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9080" y="1783080"/>
            <a:ext cx="690372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BCC6DD"/>
                </a:solidFill>
                <a:latin typeface="Aptos"/>
              </a:rPr>
              <a:t>Removed exact duplicates and duplicate job IDs.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08760" y="2313432"/>
            <a:ext cx="9144000" cy="10972"/>
          </a:xfrm>
          <a:prstGeom prst="rect">
            <a:avLst/>
          </a:prstGeom>
          <a:solidFill>
            <a:srgbClr val="1D2748"/>
          </a:solidFill>
          <a:ln>
            <a:solidFill>
              <a:srgbClr val="1D2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578608"/>
            <a:ext cx="45720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3CE0D8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578608"/>
            <a:ext cx="246888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8FAFF"/>
                </a:solidFill>
                <a:latin typeface="Aptos"/>
              </a:rPr>
              <a:t>Column reduction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2578608"/>
            <a:ext cx="690372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BCC6DD"/>
                </a:solidFill>
                <a:latin typeface="Aptos"/>
              </a:rPr>
              <a:t>Removed redundant maximum salary / experience fields.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08760" y="3108960"/>
            <a:ext cx="9144000" cy="10972"/>
          </a:xfrm>
          <a:prstGeom prst="rect">
            <a:avLst/>
          </a:prstGeom>
          <a:solidFill>
            <a:srgbClr val="1D2748"/>
          </a:solidFill>
          <a:ln>
            <a:solidFill>
              <a:srgbClr val="1D2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374136"/>
            <a:ext cx="45720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9778FF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374136"/>
            <a:ext cx="246888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8FAFF"/>
                </a:solidFill>
                <a:latin typeface="Aptos"/>
              </a:rPr>
              <a:t>Description cleaning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80" y="3374136"/>
            <a:ext cx="690372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BCC6DD"/>
                </a:solidFill>
                <a:latin typeface="Aptos"/>
              </a:rPr>
              <a:t>Stripped HTML tags and normalized whitespace.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08760" y="3904487"/>
            <a:ext cx="9144000" cy="10972"/>
          </a:xfrm>
          <a:prstGeom prst="rect">
            <a:avLst/>
          </a:prstGeom>
          <a:solidFill>
            <a:srgbClr val="1D2748"/>
          </a:solidFill>
          <a:ln>
            <a:solidFill>
              <a:srgbClr val="1D2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4169663"/>
            <a:ext cx="45720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6B9D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169663"/>
            <a:ext cx="246888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8FAFF"/>
                </a:solidFill>
                <a:latin typeface="Aptos"/>
              </a:rPr>
              <a:t>Skill normalization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80" y="4169663"/>
            <a:ext cx="690372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BCC6DD"/>
                </a:solidFill>
                <a:latin typeface="Aptos"/>
              </a:rPr>
              <a:t>Standardized case, spaces and common aliases.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08760" y="4700016"/>
            <a:ext cx="9144000" cy="10972"/>
          </a:xfrm>
          <a:prstGeom prst="rect">
            <a:avLst/>
          </a:prstGeom>
          <a:solidFill>
            <a:srgbClr val="1D2748"/>
          </a:solidFill>
          <a:ln>
            <a:solidFill>
              <a:srgbClr val="1D2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4965192"/>
            <a:ext cx="45720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C05E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965192"/>
            <a:ext cx="246888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8FAFF"/>
                </a:solidFill>
                <a:latin typeface="Aptos"/>
              </a:rPr>
              <a:t>Missing-value handling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9080" y="4965192"/>
            <a:ext cx="690372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BCC6DD"/>
                </a:solidFill>
                <a:latin typeface="Aptos"/>
              </a:rPr>
              <a:t>Applied field-specific treatment instead of blanket zero filling.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508760" y="5833872"/>
            <a:ext cx="9144000" cy="347472"/>
          </a:xfrm>
          <a:prstGeom prst="roundRect">
            <a:avLst/>
          </a:prstGeom>
          <a:solidFill>
            <a:srgbClr val="1D2748"/>
          </a:solidFill>
          <a:ln>
            <a:solidFill>
              <a:srgbClr val="1D2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691640" y="5916168"/>
            <a:ext cx="877824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 i="0">
                <a:solidFill>
                  <a:srgbClr val="C6FF58"/>
                </a:solidFill>
                <a:latin typeface="Aptos"/>
              </a:rPr>
              <a:t>CLEANER TEXT  •  STANDARDIZED FIELDS  •  DATABASE-READY RECORDS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73152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5C49DB"/>
                </a:solidFill>
                <a:latin typeface="Aptos"/>
              </a:rPr>
              <a:t>05  /  STANDARDIZATION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181F37"/>
                </a:solidFill>
                <a:latin typeface="Aptos"/>
              </a:rPr>
              <a:t>Translate messy labels into usable signals.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7899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A7691"/>
                </a:solidFill>
                <a:latin typeface="Aptos"/>
              </a:rPr>
              <a:t>Keep the original title; add standardized role and salary fields.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36576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 i="0">
                <a:solidFill>
                  <a:srgbClr val="6A7691"/>
                </a:solidFill>
                <a:latin typeface="Aptos"/>
              </a:rPr>
              <a:t>HIREMIND.AI     /     IIT GUWAHATI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6A7691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5303520" cy="3886200"/>
          </a:xfrm>
          <a:prstGeom prst="roundRect">
            <a:avLst/>
          </a:prstGeom>
          <a:solidFill>
            <a:srgbClr val="0B1023"/>
          </a:solidFill>
          <a:ln>
            <a:solidFill>
              <a:srgbClr val="0B10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084831"/>
            <a:ext cx="44805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C6FF58"/>
                </a:solidFill>
                <a:latin typeface="Aptos"/>
              </a:rPr>
              <a:t>ROLE TAXONOMY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42032"/>
            <a:ext cx="448056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F8FAFF"/>
                </a:solidFill>
                <a:latin typeface="Aptos"/>
              </a:rPr>
              <a:t>~55k → broader groups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46120"/>
            <a:ext cx="4389120" cy="11430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BCC6DD"/>
                </a:solidFill>
                <a:latin typeface="Aptos"/>
              </a:rPr>
              <a:t>Developer  /  Engineer  /  Data &amp; AI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BCC6DD"/>
                </a:solidFill>
                <a:latin typeface="Aptos"/>
              </a:rPr>
              <a:t>Analyst  /  Web &amp; Mobile  /  DevOps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BCC6DD"/>
                </a:solidFill>
                <a:latin typeface="Aptos"/>
              </a:rPr>
              <a:t>Finance  /  HR  /  Operations  / 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846320"/>
            <a:ext cx="438912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C6FF58"/>
                </a:solidFill>
                <a:latin typeface="Aptos"/>
              </a:rPr>
              <a:t>Keyword-based mapping; original title preserved.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83080"/>
            <a:ext cx="5212080" cy="3886200"/>
          </a:xfrm>
          <a:prstGeom prst="roundRect">
            <a:avLst/>
          </a:prstGeom>
          <a:solidFill>
            <a:srgbClr val="F8FAFF"/>
          </a:solidFill>
          <a:ln>
            <a:solidFill>
              <a:srgbClr val="E0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2084831"/>
            <a:ext cx="44805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5C49DB"/>
                </a:solidFill>
                <a:latin typeface="Aptos"/>
              </a:rPr>
              <a:t>SALARY ESTIMATION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542032"/>
            <a:ext cx="438912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81F37"/>
                </a:solidFill>
                <a:latin typeface="Aptos"/>
              </a:rPr>
              <a:t>₹5,00,000 × factor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273552"/>
            <a:ext cx="29260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A7691"/>
                </a:solidFill>
                <a:latin typeface="Aptos"/>
              </a:rPr>
              <a:t>Intern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3273552"/>
            <a:ext cx="9144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 i="0">
                <a:solidFill>
                  <a:srgbClr val="009188"/>
                </a:solidFill>
                <a:latin typeface="Aptos"/>
              </a:rPr>
              <a:t>0.5×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666744"/>
            <a:ext cx="29260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A7691"/>
                </a:solidFill>
                <a:latin typeface="Aptos"/>
              </a:rPr>
              <a:t>Analyst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3666744"/>
            <a:ext cx="9144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 i="0">
                <a:solidFill>
                  <a:srgbClr val="009188"/>
                </a:solidFill>
                <a:latin typeface="Aptos"/>
              </a:rPr>
              <a:t>1.8×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4059936"/>
            <a:ext cx="29260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A7691"/>
                </a:solidFill>
                <a:latin typeface="Aptos"/>
              </a:rPr>
              <a:t>Engineer / Developer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4059936"/>
            <a:ext cx="9144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 i="0">
                <a:solidFill>
                  <a:srgbClr val="009188"/>
                </a:solidFill>
                <a:latin typeface="Aptos"/>
              </a:rPr>
              <a:t>3×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453128"/>
            <a:ext cx="29260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A7691"/>
                </a:solidFill>
                <a:latin typeface="Aptos"/>
              </a:rPr>
              <a:t>Manager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4453128"/>
            <a:ext cx="9144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 i="0">
                <a:solidFill>
                  <a:srgbClr val="009188"/>
                </a:solidFill>
                <a:latin typeface="Aptos"/>
              </a:rPr>
              <a:t>4×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4846320"/>
            <a:ext cx="29260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A7691"/>
                </a:solidFill>
                <a:latin typeface="Aptos"/>
              </a:rPr>
              <a:t>Director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4846320"/>
            <a:ext cx="9144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 i="0">
                <a:solidFill>
                  <a:srgbClr val="009188"/>
                </a:solidFill>
                <a:latin typeface="Aptos"/>
              </a:rPr>
              <a:t>10×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5349240"/>
            <a:ext cx="44805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BE4652"/>
                </a:solidFill>
                <a:latin typeface="Aptos"/>
              </a:rPr>
              <a:t>Project-defined estimate—not a market quote.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9672"/>
            <a:ext cx="36576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 i="0">
                <a:solidFill>
                  <a:srgbClr val="6A7691"/>
                </a:solidFill>
                <a:latin typeface="Aptos"/>
              </a:rPr>
              <a:t>HIREMIND.AI     /     IIT GUWAHATI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6A7691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73152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5C49DB"/>
                </a:solidFill>
                <a:latin typeface="Aptos"/>
              </a:rPr>
              <a:t>06  /  BACKEND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181F37"/>
                </a:solidFill>
                <a:latin typeface="Aptos"/>
              </a:rPr>
              <a:t>Convex keeps the application connected.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7899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A7691"/>
                </a:solidFill>
                <a:latin typeface="Aptos"/>
              </a:rPr>
              <a:t>Core entities and relationships in the project data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36576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 i="0">
                <a:solidFill>
                  <a:srgbClr val="6A7691"/>
                </a:solidFill>
                <a:latin typeface="Aptos"/>
              </a:rPr>
              <a:t>HIREMIND.AI     /     IIT GUWAHATI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6A7691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2057400" cy="749808"/>
          </a:xfrm>
          <a:prstGeom prst="roundRect">
            <a:avLst/>
          </a:prstGeom>
          <a:solidFill>
            <a:srgbClr val="F8FAFF"/>
          </a:solidFill>
          <a:ln>
            <a:solidFill>
              <a:srgbClr val="E0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057400"/>
            <a:ext cx="17373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5C49DB"/>
                </a:solidFill>
                <a:latin typeface="Aptos"/>
              </a:rPr>
              <a:t>COMPANIES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40864"/>
            <a:ext cx="173736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A7691"/>
                </a:solidFill>
                <a:latin typeface="Aptos"/>
              </a:rPr>
              <a:t>companyId • 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07792" y="2057400"/>
            <a:ext cx="4114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6A7691"/>
                </a:solidFill>
                <a:latin typeface="Aptos"/>
              </a:rPr>
              <a:t>1 → 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874519"/>
            <a:ext cx="2240280" cy="749808"/>
          </a:xfrm>
          <a:prstGeom prst="roundRect">
            <a:avLst/>
          </a:prstGeom>
          <a:solidFill>
            <a:srgbClr val="F8FAFF"/>
          </a:solidFill>
          <a:ln>
            <a:solidFill>
              <a:srgbClr val="E0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47872" y="2057400"/>
            <a:ext cx="192024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09188"/>
                </a:solidFill>
                <a:latin typeface="Aptos"/>
              </a:rPr>
              <a:t>JOBS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2340864"/>
            <a:ext cx="192024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A7691"/>
                </a:solidFill>
                <a:latin typeface="Aptos"/>
              </a:rPr>
              <a:t>title • role • salary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2057400"/>
            <a:ext cx="457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6A7691"/>
                </a:solidFill>
                <a:latin typeface="Aptos"/>
              </a:rPr>
              <a:t>N ↔ 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1874519"/>
            <a:ext cx="2057400" cy="749808"/>
          </a:xfrm>
          <a:prstGeom prst="roundRect">
            <a:avLst/>
          </a:prstGeom>
          <a:solidFill>
            <a:srgbClr val="F8FAFF"/>
          </a:solidFill>
          <a:ln>
            <a:solidFill>
              <a:srgbClr val="E0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93408" y="2057400"/>
            <a:ext cx="17373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DA5B89"/>
                </a:solidFill>
                <a:latin typeface="Aptos"/>
              </a:rPr>
              <a:t>JOB SKILLS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93408" y="2340864"/>
            <a:ext cx="173736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A7691"/>
                </a:solidFill>
                <a:latin typeface="Aptos"/>
              </a:rPr>
              <a:t>jobId • skillId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2057400"/>
            <a:ext cx="36576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5C49DB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64040" y="1874519"/>
            <a:ext cx="1874519" cy="749808"/>
          </a:xfrm>
          <a:prstGeom prst="roundRect">
            <a:avLst/>
          </a:prstGeom>
          <a:solidFill>
            <a:srgbClr val="F8FAFF"/>
          </a:solidFill>
          <a:ln>
            <a:solidFill>
              <a:srgbClr val="E0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0" y="2057400"/>
            <a:ext cx="15544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506FDE"/>
                </a:solidFill>
                <a:latin typeface="Aptos"/>
              </a:rPr>
              <a:t>SKILLS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2340864"/>
            <a:ext cx="155448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A7691"/>
                </a:solidFill>
                <a:latin typeface="Aptos"/>
              </a:rPr>
              <a:t>skillId • name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246120"/>
            <a:ext cx="36576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5C49DB"/>
                </a:solidFill>
                <a:latin typeface="Aptos"/>
              </a:rPr>
              <a:t>USER ECOSYSTEM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657600"/>
            <a:ext cx="2331720" cy="960120"/>
          </a:xfrm>
          <a:prstGeom prst="roundRect">
            <a:avLst/>
          </a:prstGeom>
          <a:solidFill>
            <a:srgbClr val="0B1023"/>
          </a:solidFill>
          <a:ln>
            <a:solidFill>
              <a:srgbClr val="0B10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2688" y="3858768"/>
            <a:ext cx="20116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8FAFF"/>
                </a:solidFill>
                <a:latin typeface="Aptos"/>
              </a:rPr>
              <a:t>USERS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4206240"/>
            <a:ext cx="201168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BCC6DD"/>
                </a:solidFill>
                <a:latin typeface="Aptos"/>
              </a:rPr>
              <a:t>profile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72968" y="3950208"/>
            <a:ext cx="3200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5C49DB"/>
                </a:solidFill>
                <a:latin typeface="Aptos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93592" y="3657600"/>
            <a:ext cx="2331720" cy="960120"/>
          </a:xfrm>
          <a:prstGeom prst="roundRect">
            <a:avLst/>
          </a:prstGeom>
          <a:solidFill>
            <a:srgbClr val="0B1023"/>
          </a:solidFill>
          <a:ln>
            <a:solidFill>
              <a:srgbClr val="0B10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749040" y="3858768"/>
            <a:ext cx="20116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8FAFF"/>
                </a:solidFill>
                <a:latin typeface="Aptos"/>
              </a:rPr>
              <a:t>USER SKILLS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40" y="4206240"/>
            <a:ext cx="201168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BCC6DD"/>
                </a:solidFill>
                <a:latin typeface="Aptos"/>
              </a:rPr>
              <a:t>user ↔ skill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89320" y="3950208"/>
            <a:ext cx="3200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5C49DB"/>
                </a:solidFill>
                <a:latin typeface="Aptos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9944" y="3657600"/>
            <a:ext cx="2331720" cy="960120"/>
          </a:xfrm>
          <a:prstGeom prst="roundRect">
            <a:avLst/>
          </a:prstGeom>
          <a:solidFill>
            <a:srgbClr val="0B1023"/>
          </a:solidFill>
          <a:ln>
            <a:solidFill>
              <a:srgbClr val="0B10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65392" y="3858768"/>
            <a:ext cx="20116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8FAFF"/>
                </a:solidFill>
                <a:latin typeface="Aptos"/>
              </a:rPr>
              <a:t>PREFERENCES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65392" y="4206240"/>
            <a:ext cx="201168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BCC6DD"/>
                </a:solidFill>
                <a:latin typeface="Aptos"/>
              </a:rPr>
              <a:t>role • level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05672" y="3950208"/>
            <a:ext cx="3200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5C49DB"/>
                </a:solidFill>
                <a:latin typeface="Aptos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26296" y="3657600"/>
            <a:ext cx="2331720" cy="960120"/>
          </a:xfrm>
          <a:prstGeom prst="roundRect">
            <a:avLst/>
          </a:prstGeom>
          <a:solidFill>
            <a:srgbClr val="0B1023"/>
          </a:solidFill>
          <a:ln>
            <a:solidFill>
              <a:srgbClr val="0B10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381744" y="3858768"/>
            <a:ext cx="20116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8FAFF"/>
                </a:solidFill>
                <a:latin typeface="Aptos"/>
              </a:rPr>
              <a:t>APPLICATIONS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81744" y="4206240"/>
            <a:ext cx="201168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BCC6DD"/>
                </a:solidFill>
                <a:latin typeface="Aptos"/>
              </a:rPr>
              <a:t>user • job • status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8680" y="5166360"/>
            <a:ext cx="10378440" cy="548640"/>
          </a:xfrm>
          <a:prstGeom prst="roundRect">
            <a:avLst/>
          </a:prstGeom>
          <a:solidFill>
            <a:srgbClr val="E7EFFF"/>
          </a:solidFill>
          <a:ln>
            <a:solidFill>
              <a:srgbClr val="E7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97280" y="5340096"/>
            <a:ext cx="99669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181F37"/>
                </a:solidFill>
                <a:latin typeface="Aptos"/>
              </a:rPr>
              <a:t>Deployment setup: Vercel hosts the frontend; Convex provides backend data and functions.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519672"/>
            <a:ext cx="36576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 i="0">
                <a:solidFill>
                  <a:srgbClr val="6A7691"/>
                </a:solidFill>
                <a:latin typeface="Aptos"/>
              </a:rPr>
              <a:t>HIREMIND.AI     /     IIT GUWAHATI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6A7691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5486400" cy="2286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1">
                <a:solidFill>
                  <a:srgbClr val="C2FF4B"/>
                </a:solidFill>
                <a:latin typeface="Aptos"/>
              </a:rPr>
              <a:t>07A  /  CONVEX ER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06424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500" b="1">
                <a:solidFill>
                  <a:srgbClr val="F6F7FC"/>
                </a:solidFill>
                <a:latin typeface="Aptos"/>
              </a:rPr>
              <a:t>Foreign keys &amp; relationship cardinality.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05840"/>
            <a:ext cx="10972800" cy="2560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0">
                <a:solidFill>
                  <a:srgbClr val="ABB5CB"/>
                </a:solidFill>
                <a:latin typeface="Aptos"/>
              </a:rPr>
              <a:t>Solid arrows show the referencing field and the one-to-many direction.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2743200" cy="1508760"/>
          </a:xfrm>
          <a:prstGeom prst="roundRect">
            <a:avLst/>
          </a:prstGeom>
          <a:solidFill>
            <a:srgbClr val="18203E"/>
          </a:solidFill>
          <a:ln w="12700">
            <a:solidFill>
              <a:srgbClr val="3944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600200"/>
            <a:ext cx="2743200" cy="347472"/>
          </a:xfrm>
          <a:prstGeom prst="rect">
            <a:avLst/>
          </a:prstGeom>
          <a:solidFill>
            <a:srgbClr val="C2F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2648" y="1623060"/>
            <a:ext cx="2523744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>
                <a:solidFill>
                  <a:srgbClr val="0B1024"/>
                </a:solidFill>
                <a:latin typeface="Aptos"/>
              </a:rPr>
              <a:t>PROFILES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029967"/>
            <a:ext cx="2505456" cy="103327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30" b="0">
                <a:solidFill>
                  <a:srgbClr val="F6F7FC"/>
                </a:solidFill>
                <a:latin typeface="Aptos"/>
              </a:rPr>
              <a:t>PK  _id
UK  clerkId
name • skills • experience
preferredRole • minSalary • level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1600200"/>
            <a:ext cx="2743200" cy="1508760"/>
          </a:xfrm>
          <a:prstGeom prst="roundRect">
            <a:avLst/>
          </a:prstGeom>
          <a:solidFill>
            <a:srgbClr val="18203E"/>
          </a:solidFill>
          <a:ln w="12700">
            <a:solidFill>
              <a:srgbClr val="3944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709160" y="1600200"/>
            <a:ext cx="2743200" cy="347472"/>
          </a:xfrm>
          <a:prstGeom prst="rect">
            <a:avLst/>
          </a:prstGeom>
          <a:solidFill>
            <a:srgbClr val="33D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18888" y="1623060"/>
            <a:ext cx="2523744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>
                <a:solidFill>
                  <a:srgbClr val="0B1024"/>
                </a:solidFill>
                <a:latin typeface="Aptos"/>
              </a:rPr>
              <a:t>COMPANIES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8032" y="2029967"/>
            <a:ext cx="2505456" cy="103327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30" b="0">
                <a:solidFill>
                  <a:srgbClr val="F6F7FC"/>
                </a:solidFill>
                <a:latin typeface="Aptos"/>
              </a:rPr>
              <a:t>PK  _id
FK*  ownerClerkId → Profiles.clerkId
name • about • rating • reviews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15400" y="1600200"/>
            <a:ext cx="2743200" cy="1508760"/>
          </a:xfrm>
          <a:prstGeom prst="roundRect">
            <a:avLst/>
          </a:prstGeom>
          <a:solidFill>
            <a:srgbClr val="18203E"/>
          </a:solidFill>
          <a:ln w="12700">
            <a:solidFill>
              <a:srgbClr val="3944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915400" y="1600200"/>
            <a:ext cx="2743200" cy="347472"/>
          </a:xfrm>
          <a:prstGeom prst="rect">
            <a:avLst/>
          </a:prstGeom>
          <a:solidFill>
            <a:srgbClr val="99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25128" y="1623060"/>
            <a:ext cx="2523744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>
                <a:solidFill>
                  <a:srgbClr val="0B1024"/>
                </a:solidFill>
                <a:latin typeface="Aptos"/>
              </a:rPr>
              <a:t>JOBS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34272" y="2029967"/>
            <a:ext cx="2505456" cy="103327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30" b="0">
                <a:solidFill>
                  <a:srgbClr val="F6F7FC"/>
                </a:solidFill>
                <a:latin typeface="Aptos"/>
              </a:rPr>
              <a:t>PK  _id
FK  companyId → Companies._id
title • role • level • salary
minExperience • location • skills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0" y="4251960"/>
            <a:ext cx="2743200" cy="1508760"/>
          </a:xfrm>
          <a:prstGeom prst="roundRect">
            <a:avLst/>
          </a:prstGeom>
          <a:solidFill>
            <a:srgbClr val="18203E"/>
          </a:solidFill>
          <a:ln w="12700">
            <a:solidFill>
              <a:srgbClr val="3944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743200" y="4251960"/>
            <a:ext cx="2743200" cy="347472"/>
          </a:xfrm>
          <a:prstGeom prst="rect">
            <a:avLst/>
          </a:prstGeom>
          <a:solidFill>
            <a:srgbClr val="F65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852928" y="4274820"/>
            <a:ext cx="2523744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>
                <a:solidFill>
                  <a:srgbClr val="0B1024"/>
                </a:solidFill>
                <a:latin typeface="Aptos"/>
              </a:rPr>
              <a:t>APPLICATIONS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62072" y="4681728"/>
            <a:ext cx="2505456" cy="103327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30" b="0">
                <a:solidFill>
                  <a:srgbClr val="F6F7FC"/>
                </a:solidFill>
                <a:latin typeface="Aptos"/>
              </a:rPr>
              <a:t>PK  _id
FK  jobId → Jobs._id
FK* clerkId → Profiles.clerkId
status • appliedAt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4251960"/>
            <a:ext cx="2743200" cy="1508760"/>
          </a:xfrm>
          <a:prstGeom prst="roundRect">
            <a:avLst/>
          </a:prstGeom>
          <a:solidFill>
            <a:srgbClr val="18203E"/>
          </a:solidFill>
          <a:ln w="12700">
            <a:solidFill>
              <a:srgbClr val="3944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15200" y="4251960"/>
            <a:ext cx="2743200" cy="347472"/>
          </a:xfrm>
          <a:prstGeom prst="rect">
            <a:avLst/>
          </a:prstGeom>
          <a:solidFill>
            <a:srgbClr val="FFB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24927" y="4274820"/>
            <a:ext cx="2523744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>
                <a:solidFill>
                  <a:srgbClr val="0B1024"/>
                </a:solidFill>
                <a:latin typeface="Aptos"/>
              </a:rPr>
              <a:t>CONNECTIONS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34072" y="4681728"/>
            <a:ext cx="2505456" cy="103327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30" b="0">
                <a:solidFill>
                  <a:srgbClr val="F6F7FC"/>
                </a:solidFill>
                <a:latin typeface="Aptos"/>
              </a:rPr>
              <a:t>PK  _id
FK* from → Profiles.clerkId
FK* to → Profiles.clerkId
relation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452360" y="2359152"/>
            <a:ext cx="1417320" cy="0"/>
          </a:xfrm>
          <a:prstGeom prst="line">
            <a:avLst/>
          </a:prstGeom>
          <a:ln w="30480">
            <a:solidFill>
              <a:srgbClr val="33D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516368" y="2057400"/>
            <a:ext cx="1234440" cy="2286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00" b="1">
                <a:solidFill>
                  <a:srgbClr val="33DCD3"/>
                </a:solidFill>
                <a:latin typeface="Aptos"/>
              </a:rPr>
              <a:t>1  ─────  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79792" y="2587752"/>
            <a:ext cx="1353312" cy="20116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740" b="0">
                <a:solidFill>
                  <a:srgbClr val="ABB5CB"/>
                </a:solidFill>
                <a:latin typeface="Aptos"/>
              </a:rPr>
              <a:t>companyId (FK)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4709160" y="3136392"/>
            <a:ext cx="5303520" cy="996695"/>
          </a:xfrm>
          <a:prstGeom prst="line">
            <a:avLst/>
          </a:prstGeom>
          <a:ln w="25400">
            <a:solidFill>
              <a:srgbClr val="997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537960" y="3319272"/>
            <a:ext cx="1325880" cy="2286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00" b="1">
                <a:solidFill>
                  <a:srgbClr val="9971FF"/>
                </a:solidFill>
                <a:latin typeface="Aptos"/>
              </a:rPr>
              <a:t>1  ─────  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3575304"/>
            <a:ext cx="1325880" cy="20116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740" b="0">
                <a:solidFill>
                  <a:srgbClr val="ABB5CB"/>
                </a:solidFill>
                <a:latin typeface="Aptos"/>
              </a:rPr>
              <a:t>jobId (FK)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874519" y="3136392"/>
            <a:ext cx="1463041" cy="1069848"/>
          </a:xfrm>
          <a:prstGeom prst="line">
            <a:avLst/>
          </a:prstGeom>
          <a:ln w="25400">
            <a:solidFill>
              <a:srgbClr val="C2FF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298448" y="3438144"/>
            <a:ext cx="1371600" cy="2286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00" b="1">
                <a:solidFill>
                  <a:srgbClr val="C2FF4B"/>
                </a:solidFill>
                <a:latin typeface="Aptos"/>
              </a:rPr>
              <a:t>1  ─────  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07008" y="3675887"/>
            <a:ext cx="1508760" cy="20116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740" b="0">
                <a:solidFill>
                  <a:srgbClr val="ABB5CB"/>
                </a:solidFill>
                <a:latin typeface="Aptos"/>
              </a:rPr>
              <a:t>clerkId (FK*)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291840" y="2057400"/>
            <a:ext cx="1371600" cy="0"/>
          </a:xfrm>
          <a:prstGeom prst="line">
            <a:avLst/>
          </a:prstGeom>
          <a:ln w="19050">
            <a:solidFill>
              <a:srgbClr val="33D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337560" y="1627632"/>
            <a:ext cx="1298448" cy="20116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800" b="1">
                <a:solidFill>
                  <a:srgbClr val="33DCD3"/>
                </a:solidFill>
                <a:latin typeface="Aptos"/>
              </a:rPr>
              <a:t>1  ─────  0..N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46704" y="2313432"/>
            <a:ext cx="1280160" cy="1828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720" b="0">
                <a:solidFill>
                  <a:srgbClr val="ABB5CB"/>
                </a:solidFill>
                <a:latin typeface="Aptos"/>
              </a:rPr>
              <a:t>ownerClerkId*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3063240" y="3182112"/>
            <a:ext cx="4389120" cy="1042416"/>
          </a:xfrm>
          <a:prstGeom prst="line">
            <a:avLst/>
          </a:prstGeom>
          <a:ln w="25400">
            <a:solidFill>
              <a:srgbClr val="FFB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166360" y="3383280"/>
            <a:ext cx="1874519" cy="2286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00" b="1">
                <a:solidFill>
                  <a:srgbClr val="FFBE5B"/>
                </a:solidFill>
                <a:latin typeface="Aptos"/>
              </a:rPr>
              <a:t>PROFILES  M : N  PROFILES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57800" y="3639312"/>
            <a:ext cx="1737360" cy="20116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740" b="0">
                <a:solidFill>
                  <a:srgbClr val="ABB5CB"/>
                </a:solidFill>
                <a:latin typeface="Aptos"/>
              </a:rPr>
              <a:t>from + to (FK*)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6053328"/>
            <a:ext cx="11155680" cy="502920"/>
          </a:xfrm>
          <a:prstGeom prst="roundRect">
            <a:avLst/>
          </a:prstGeom>
          <a:solidFill>
            <a:srgbClr val="1F2B4E"/>
          </a:solidFill>
          <a:ln w="12700">
            <a:solidFill>
              <a:srgbClr val="3944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85800" y="6108192"/>
            <a:ext cx="1078992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10" b="1">
                <a:solidFill>
                  <a:srgbClr val="F6F7FC"/>
                </a:solidFill>
                <a:latin typeface="Aptos"/>
              </a:rPr>
              <a:t>PK = primary key     FK = reference to another collection     FK* = logical Clerk-ID reference (not Convex _id)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583680"/>
            <a:ext cx="10972800" cy="1828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819" b="0">
                <a:solidFill>
                  <a:srgbClr val="ABB5CB"/>
                </a:solidFill>
                <a:latin typeface="Aptos"/>
              </a:rPr>
              <a:t>Cardinality: Companies 1:N Jobs • Profiles 1:N Applications • Jobs 1:N Applications • Profiles M:N Profiles via Connections.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784848"/>
            <a:ext cx="4023360" cy="14630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700" b="1">
                <a:solidFill>
                  <a:srgbClr val="ABB5CB"/>
                </a:solidFill>
                <a:latin typeface="Aptos"/>
              </a:rPr>
              <a:t>HIREMIND.AI   /   IIT GUWAHATI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64240" y="6766560"/>
            <a:ext cx="502920" cy="14630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800" b="1">
                <a:solidFill>
                  <a:srgbClr val="ABB5CB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73152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C6FF58"/>
                </a:solidFill>
                <a:latin typeface="Aptos"/>
              </a:rPr>
              <a:t>07  /  DATA AT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8FAFF"/>
                </a:solidFill>
                <a:latin typeface="Aptos"/>
              </a:rPr>
              <a:t>Two sides of a job marketplace.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7899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BCC6DD"/>
                </a:solidFill>
                <a:latin typeface="Aptos"/>
              </a:rPr>
              <a:t>Prepared data supports both job listings and candidate profiles.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36576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 i="0">
                <a:solidFill>
                  <a:srgbClr val="7E8DAE"/>
                </a:solidFill>
                <a:latin typeface="Aptos"/>
              </a:rPr>
              <a:t>HIREMIND.AI     /     IIT GUWAHATI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7E8DAE"/>
                </a:solidFill>
                <a:latin typeface="Aptos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2743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8FAFF"/>
                </a:solidFill>
                <a:latin typeface="Aptos"/>
              </a:rPr>
              <a:t>Job–skill relationships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1828800"/>
            <a:ext cx="8686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 i="0">
                <a:solidFill>
                  <a:srgbClr val="C6FF58"/>
                </a:solidFill>
                <a:latin typeface="Aptos"/>
              </a:rPr>
              <a:t>753,124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856231"/>
            <a:ext cx="5852160" cy="201168"/>
          </a:xfrm>
          <a:prstGeom prst="roundRect">
            <a:avLst/>
          </a:prstGeom>
          <a:solidFill>
            <a:srgbClr val="1D2748"/>
          </a:solidFill>
          <a:ln>
            <a:solidFill>
              <a:srgbClr val="1D2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657600" y="1856231"/>
            <a:ext cx="5852160" cy="201168"/>
          </a:xfrm>
          <a:prstGeom prst="roundRect">
            <a:avLst/>
          </a:prstGeom>
          <a:solidFill>
            <a:srgbClr val="C6FF58"/>
          </a:solidFill>
          <a:ln>
            <a:solidFill>
              <a:srgbClr val="C6F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697480"/>
            <a:ext cx="2743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8FAFF"/>
                </a:solidFill>
                <a:latin typeface="Aptos"/>
              </a:rPr>
              <a:t>User–skill relationships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2697480"/>
            <a:ext cx="8686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 i="0">
                <a:solidFill>
                  <a:srgbClr val="3CE0D8"/>
                </a:solidFill>
                <a:latin typeface="Aptos"/>
              </a:rPr>
              <a:t>718,555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2724912"/>
            <a:ext cx="5852160" cy="201168"/>
          </a:xfrm>
          <a:prstGeom prst="roundRect">
            <a:avLst/>
          </a:prstGeom>
          <a:solidFill>
            <a:srgbClr val="1D2748"/>
          </a:solidFill>
          <a:ln>
            <a:solidFill>
              <a:srgbClr val="1D2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657600" y="2724912"/>
            <a:ext cx="5583541" cy="201168"/>
          </a:xfrm>
          <a:prstGeom prst="roundRect">
            <a:avLst/>
          </a:prstGeom>
          <a:solidFill>
            <a:srgbClr val="3CE0D8"/>
          </a:solidFill>
          <a:ln>
            <a:solidFill>
              <a:srgbClr val="3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3566160"/>
            <a:ext cx="2743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8FAFF"/>
                </a:solidFill>
                <a:latin typeface="Aptos"/>
              </a:rPr>
              <a:t>Applications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0" y="3566160"/>
            <a:ext cx="8686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 i="0">
                <a:solidFill>
                  <a:srgbClr val="9778FF"/>
                </a:solidFill>
                <a:latin typeface="Aptos"/>
              </a:rPr>
              <a:t>273,780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0" y="3593591"/>
            <a:ext cx="5852160" cy="201168"/>
          </a:xfrm>
          <a:prstGeom prst="roundRect">
            <a:avLst/>
          </a:prstGeom>
          <a:solidFill>
            <a:srgbClr val="1D2748"/>
          </a:solidFill>
          <a:ln>
            <a:solidFill>
              <a:srgbClr val="1D2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657600" y="3593591"/>
            <a:ext cx="2127411" cy="201168"/>
          </a:xfrm>
          <a:prstGeom prst="roundRect">
            <a:avLst/>
          </a:prstGeom>
          <a:solidFill>
            <a:srgbClr val="9778FF"/>
          </a:solidFill>
          <a:ln>
            <a:solidFill>
              <a:srgbClr val="97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4434840"/>
            <a:ext cx="2743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8FAFF"/>
                </a:solidFill>
                <a:latin typeface="Aptos"/>
              </a:rPr>
              <a:t>User preferences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60" y="4434840"/>
            <a:ext cx="8686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 i="0">
                <a:solidFill>
                  <a:srgbClr val="FF6B9D"/>
                </a:solidFill>
                <a:latin typeface="Aptos"/>
              </a:rPr>
              <a:t>100,000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4462272"/>
            <a:ext cx="5852160" cy="201168"/>
          </a:xfrm>
          <a:prstGeom prst="roundRect">
            <a:avLst/>
          </a:prstGeom>
          <a:solidFill>
            <a:srgbClr val="1D2748"/>
          </a:solidFill>
          <a:ln>
            <a:solidFill>
              <a:srgbClr val="1D2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657600" y="4462272"/>
            <a:ext cx="777051" cy="201168"/>
          </a:xfrm>
          <a:prstGeom prst="roundRect">
            <a:avLst/>
          </a:prstGeom>
          <a:solidFill>
            <a:srgbClr val="FF6B9D"/>
          </a:solidFill>
          <a:ln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68680" y="5532120"/>
            <a:ext cx="10332720" cy="502920"/>
          </a:xfrm>
          <a:prstGeom prst="roundRect">
            <a:avLst/>
          </a:prstGeom>
          <a:solidFill>
            <a:srgbClr val="1D2748"/>
          </a:solidFill>
          <a:ln>
            <a:solidFill>
              <a:srgbClr val="1D2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51560" y="5687568"/>
            <a:ext cx="99669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BCC6DD"/>
                </a:solidFill>
                <a:latin typeface="Aptos"/>
              </a:rPr>
              <a:t>Role-aligned synthetic user skills were derived from skills observed in corresponding job categories.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73152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5C49DB"/>
                </a:solidFill>
                <a:latin typeface="Aptos"/>
              </a:rPr>
              <a:t>08  /  RECOMMENDATION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181F37"/>
                </a:solidFill>
                <a:latin typeface="Aptos"/>
              </a:rPr>
              <a:t>Turn text into comparable features.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7899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A7691"/>
                </a:solidFill>
                <a:latin typeface="Aptos"/>
              </a:rPr>
              <a:t>TF-IDF and cosine similarity provide the text-matching foundation.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36576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 i="0">
                <a:solidFill>
                  <a:srgbClr val="6A7691"/>
                </a:solidFill>
                <a:latin typeface="Aptos"/>
              </a:rPr>
              <a:t>HIREMIND.AI     /     IIT GUWAHATI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6A7691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2487168" cy="1600200"/>
          </a:xfrm>
          <a:prstGeom prst="roundRect">
            <a:avLst/>
          </a:prstGeom>
          <a:solidFill>
            <a:srgbClr val="F8FAFF"/>
          </a:solidFill>
          <a:ln>
            <a:solidFill>
              <a:srgbClr val="E0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210312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5C49DB"/>
                </a:solidFill>
                <a:latin typeface="Aptos"/>
              </a:rPr>
              <a:t>5,000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542032"/>
            <a:ext cx="21031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81F37"/>
                </a:solidFill>
                <a:latin typeface="Aptos"/>
              </a:rPr>
              <a:t>SKILLS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862072"/>
            <a:ext cx="21031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A7691"/>
                </a:solidFill>
                <a:latin typeface="Aptos"/>
              </a:rPr>
              <a:t>Skills vocabulary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84448" y="1783080"/>
            <a:ext cx="2487168" cy="1600200"/>
          </a:xfrm>
          <a:prstGeom prst="roundRect">
            <a:avLst/>
          </a:prstGeom>
          <a:solidFill>
            <a:srgbClr val="F8FAFF"/>
          </a:solidFill>
          <a:ln>
            <a:solidFill>
              <a:srgbClr val="E0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49039" y="1965960"/>
            <a:ext cx="210312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09188"/>
                </a:solidFill>
                <a:latin typeface="Aptos"/>
              </a:rPr>
              <a:t>2,000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542032"/>
            <a:ext cx="21031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81F37"/>
                </a:solidFill>
                <a:latin typeface="Aptos"/>
              </a:rPr>
              <a:t>TITLE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862072"/>
            <a:ext cx="21031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A7691"/>
                </a:solidFill>
                <a:latin typeface="Aptos"/>
              </a:rPr>
              <a:t>Role wording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37376" y="1783080"/>
            <a:ext cx="2487168" cy="1600200"/>
          </a:xfrm>
          <a:prstGeom prst="roundRect">
            <a:avLst/>
          </a:prstGeom>
          <a:solidFill>
            <a:srgbClr val="F8FAFF"/>
          </a:solidFill>
          <a:ln>
            <a:solidFill>
              <a:srgbClr val="E0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01968" y="1965960"/>
            <a:ext cx="210312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DA5B89"/>
                </a:solidFill>
                <a:latin typeface="Aptos"/>
              </a:rPr>
              <a:t>3,000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2542032"/>
            <a:ext cx="21031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81F37"/>
                </a:solidFill>
                <a:latin typeface="Aptos"/>
              </a:rPr>
              <a:t>DESCRIPTION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2862072"/>
            <a:ext cx="21031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A7691"/>
                </a:solidFill>
                <a:latin typeface="Aptos"/>
              </a:rPr>
              <a:t>Responsibilities &amp; requirements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90304" y="1783080"/>
            <a:ext cx="2487168" cy="1600200"/>
          </a:xfrm>
          <a:prstGeom prst="roundRect">
            <a:avLst/>
          </a:prstGeom>
          <a:solidFill>
            <a:srgbClr val="F8FAFF"/>
          </a:solidFill>
          <a:ln>
            <a:solidFill>
              <a:srgbClr val="E0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54896" y="1965960"/>
            <a:ext cx="210312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506FDE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54896" y="2542032"/>
            <a:ext cx="21031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81F37"/>
                </a:solidFill>
                <a:latin typeface="Aptos"/>
              </a:rPr>
              <a:t>NUMERIC FEATURES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54896" y="2862072"/>
            <a:ext cx="21031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A7691"/>
                </a:solidFill>
                <a:latin typeface="Aptos"/>
              </a:rPr>
              <a:t>Scaled values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840480"/>
            <a:ext cx="5074920" cy="1417320"/>
          </a:xfrm>
          <a:prstGeom prst="roundRect">
            <a:avLst/>
          </a:prstGeom>
          <a:solidFill>
            <a:srgbClr val="0B1023"/>
          </a:solidFill>
          <a:ln>
            <a:solidFill>
              <a:srgbClr val="0B10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51560" y="4087368"/>
            <a:ext cx="43891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C6FF58"/>
                </a:solidFill>
                <a:latin typeface="Aptos"/>
              </a:rPr>
              <a:t>TF-IDF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4526280"/>
            <a:ext cx="438912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BCC6DD"/>
                </a:solidFill>
                <a:latin typeface="Aptos"/>
              </a:rPr>
              <a:t>Weights terms by their importance in job text and across the collection.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840480"/>
            <a:ext cx="5074920" cy="1417320"/>
          </a:xfrm>
          <a:prstGeom prst="roundRect">
            <a:avLst/>
          </a:prstGeom>
          <a:solidFill>
            <a:srgbClr val="F8FAFF"/>
          </a:solidFill>
          <a:ln>
            <a:solidFill>
              <a:srgbClr val="E0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92240" y="4087368"/>
            <a:ext cx="43891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009188"/>
                </a:solidFill>
                <a:latin typeface="Aptos"/>
              </a:rPr>
              <a:t>COSINE SIMILARITY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526280"/>
            <a:ext cx="438912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A7691"/>
                </a:solidFill>
                <a:latin typeface="Aptos"/>
              </a:rPr>
              <a:t>Compares candidate and job vectors; higher similarity means closer text representation.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623560"/>
            <a:ext cx="102412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BE4652"/>
                </a:solidFill>
                <a:latin typeface="Aptos"/>
              </a:rPr>
              <a:t>A recommendation score ranks relevance; it is not a probability of being hired.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9672"/>
            <a:ext cx="36576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 i="0">
                <a:solidFill>
                  <a:srgbClr val="6A7691"/>
                </a:solidFill>
                <a:latin typeface="Aptos"/>
              </a:rPr>
              <a:t>HIREMIND.AI     /     IIT GUWAHATI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6A7691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73152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C6FF58"/>
                </a:solidFill>
                <a:latin typeface="Aptos"/>
              </a:rPr>
              <a:t>09  /  MATCH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8FAFF"/>
                </a:solidFill>
                <a:latin typeface="Aptos"/>
              </a:rPr>
              <a:t>A weighted view of job relevance.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7899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BCC6DD"/>
                </a:solidFill>
                <a:latin typeface="Aptos"/>
              </a:rPr>
              <a:t>Weights documented in the model report; verify exact deployed implementation when discussing internals.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36576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 i="0">
                <a:solidFill>
                  <a:srgbClr val="7E8DAE"/>
                </a:solidFill>
                <a:latin typeface="Aptos"/>
              </a:rPr>
              <a:t>HIREMIND.AI     /     IIT GUWAHATI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7E8DAE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260604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8FAFF"/>
                </a:solidFill>
                <a:latin typeface="Aptos"/>
              </a:rPr>
              <a:t>Skills similarity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810512"/>
            <a:ext cx="5806440" cy="219456"/>
          </a:xfrm>
          <a:prstGeom prst="roundRect">
            <a:avLst/>
          </a:prstGeom>
          <a:solidFill>
            <a:srgbClr val="1D2748"/>
          </a:solidFill>
          <a:ln>
            <a:solidFill>
              <a:srgbClr val="1D2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520440" y="1810512"/>
            <a:ext cx="5806440" cy="219456"/>
          </a:xfrm>
          <a:prstGeom prst="roundRect">
            <a:avLst/>
          </a:prstGeom>
          <a:solidFill>
            <a:srgbClr val="C6FF58"/>
          </a:solidFill>
          <a:ln>
            <a:solidFill>
              <a:srgbClr val="C6F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46920" y="1783080"/>
            <a:ext cx="6858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1" i="0">
                <a:solidFill>
                  <a:srgbClr val="C6FF58"/>
                </a:solidFill>
                <a:latin typeface="Aptos"/>
              </a:rPr>
              <a:t>45%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441448"/>
            <a:ext cx="260604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8FAFF"/>
                </a:solidFill>
                <a:latin typeface="Aptos"/>
              </a:rPr>
              <a:t>Title similarity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2468879"/>
            <a:ext cx="5806440" cy="219456"/>
          </a:xfrm>
          <a:prstGeom prst="roundRect">
            <a:avLst/>
          </a:prstGeom>
          <a:solidFill>
            <a:srgbClr val="1D2748"/>
          </a:solidFill>
          <a:ln>
            <a:solidFill>
              <a:srgbClr val="1D2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520440" y="2468879"/>
            <a:ext cx="2580640" cy="219456"/>
          </a:xfrm>
          <a:prstGeom prst="roundRect">
            <a:avLst/>
          </a:prstGeom>
          <a:solidFill>
            <a:srgbClr val="3CE0D8"/>
          </a:solidFill>
          <a:ln>
            <a:solidFill>
              <a:srgbClr val="3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46920" y="2441448"/>
            <a:ext cx="6858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1" i="0">
                <a:solidFill>
                  <a:srgbClr val="3CE0D8"/>
                </a:solidFill>
                <a:latin typeface="Aptos"/>
              </a:rPr>
              <a:t>20%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99815"/>
            <a:ext cx="260604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8FAFF"/>
                </a:solidFill>
                <a:latin typeface="Aptos"/>
              </a:rPr>
              <a:t>Description similarity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20440" y="3127247"/>
            <a:ext cx="5806440" cy="219456"/>
          </a:xfrm>
          <a:prstGeom prst="roundRect">
            <a:avLst/>
          </a:prstGeom>
          <a:solidFill>
            <a:srgbClr val="1D2748"/>
          </a:solidFill>
          <a:ln>
            <a:solidFill>
              <a:srgbClr val="1D2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520440" y="3127247"/>
            <a:ext cx="2580640" cy="219456"/>
          </a:xfrm>
          <a:prstGeom prst="roundRect">
            <a:avLst/>
          </a:prstGeom>
          <a:solidFill>
            <a:srgbClr val="9778FF"/>
          </a:solidFill>
          <a:ln>
            <a:solidFill>
              <a:srgbClr val="97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46920" y="3099815"/>
            <a:ext cx="6858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1" i="0">
                <a:solidFill>
                  <a:srgbClr val="9778FF"/>
                </a:solidFill>
                <a:latin typeface="Aptos"/>
              </a:rPr>
              <a:t>20%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758184"/>
            <a:ext cx="260604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8FAFF"/>
                </a:solidFill>
                <a:latin typeface="Aptos"/>
              </a:rPr>
              <a:t>Numerical compatibility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20440" y="3785616"/>
            <a:ext cx="5806440" cy="219456"/>
          </a:xfrm>
          <a:prstGeom prst="roundRect">
            <a:avLst/>
          </a:prstGeom>
          <a:solidFill>
            <a:srgbClr val="1D2748"/>
          </a:solidFill>
          <a:ln>
            <a:solidFill>
              <a:srgbClr val="1D2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3520440" y="3785616"/>
            <a:ext cx="1290320" cy="219456"/>
          </a:xfrm>
          <a:prstGeom prst="roundRect">
            <a:avLst/>
          </a:prstGeom>
          <a:solidFill>
            <a:srgbClr val="FF6B9D"/>
          </a:solidFill>
          <a:ln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46920" y="3758184"/>
            <a:ext cx="6858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1" i="0">
                <a:solidFill>
                  <a:srgbClr val="FF6B9D"/>
                </a:solidFill>
                <a:latin typeface="Aptos"/>
              </a:rPr>
              <a:t>10%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416552"/>
            <a:ext cx="260604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8FAFF"/>
                </a:solidFill>
                <a:latin typeface="Aptos"/>
              </a:rPr>
              <a:t>Seniority compatibility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20440" y="4443984"/>
            <a:ext cx="5806440" cy="219456"/>
          </a:xfrm>
          <a:prstGeom prst="roundRect">
            <a:avLst/>
          </a:prstGeom>
          <a:solidFill>
            <a:srgbClr val="1D2748"/>
          </a:solidFill>
          <a:ln>
            <a:solidFill>
              <a:srgbClr val="1D2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3520440" y="4443984"/>
            <a:ext cx="645160" cy="219456"/>
          </a:xfrm>
          <a:prstGeom prst="roundRect">
            <a:avLst/>
          </a:prstGeom>
          <a:solidFill>
            <a:srgbClr val="FFC05E"/>
          </a:solidFill>
          <a:ln>
            <a:solidFill>
              <a:srgbClr val="FFC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46920" y="4416552"/>
            <a:ext cx="6858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1" i="0">
                <a:solidFill>
                  <a:srgbClr val="FFC05E"/>
                </a:solidFill>
                <a:latin typeface="Aptos"/>
              </a:rPr>
              <a:t>5%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5349240"/>
            <a:ext cx="10332720" cy="658368"/>
          </a:xfrm>
          <a:prstGeom prst="roundRect">
            <a:avLst/>
          </a:prstGeom>
          <a:solidFill>
            <a:srgbClr val="1D2748"/>
          </a:solidFill>
          <a:ln>
            <a:solidFill>
              <a:srgbClr val="1D2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51560" y="5550408"/>
            <a:ext cx="99669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8FAFF"/>
                </a:solidFill>
                <a:latin typeface="Aptos"/>
              </a:rPr>
              <a:t>MATCH SCORE  =  0.45 skills  +  0.20 title  +  0.20 description  +  0.10 numeric  +  0.05 seniority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73152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5C49DB"/>
                </a:solidFill>
                <a:latin typeface="Aptos"/>
              </a:rPr>
              <a:t>10  /  SHIPPED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181F37"/>
                </a:solidFill>
                <a:latin typeface="Aptos"/>
              </a:rPr>
              <a:t>From local development to a live application.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7899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A7691"/>
                </a:solidFill>
                <a:latin typeface="Aptos"/>
              </a:rPr>
              <a:t>The project is deployed using Vercel with Convex as the backend.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36576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 i="0">
                <a:solidFill>
                  <a:srgbClr val="6A7691"/>
                </a:solidFill>
                <a:latin typeface="Aptos"/>
              </a:rPr>
              <a:t>HIREMIND.AI     /     IIT GUWAHATI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6A7691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6629400" cy="3977639"/>
          </a:xfrm>
          <a:prstGeom prst="roundRect">
            <a:avLst/>
          </a:prstGeom>
          <a:solidFill>
            <a:srgbClr val="F8FAFF"/>
          </a:solidFill>
          <a:ln>
            <a:solidFill>
              <a:srgbClr val="E0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737360"/>
            <a:ext cx="6629400" cy="438912"/>
          </a:xfrm>
          <a:prstGeom prst="rect">
            <a:avLst/>
          </a:prstGeom>
          <a:solidFill>
            <a:srgbClr val="0B1023"/>
          </a:solidFill>
          <a:ln>
            <a:solidFill>
              <a:srgbClr val="0B10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41832" y="1901952"/>
            <a:ext cx="91440" cy="91440"/>
          </a:xfrm>
          <a:prstGeom prst="ellipse">
            <a:avLst/>
          </a:prstGeom>
          <a:solidFill>
            <a:srgbClr val="FF6B9D"/>
          </a:solidFill>
          <a:ln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61288" y="1901952"/>
            <a:ext cx="91440" cy="91440"/>
          </a:xfrm>
          <a:prstGeom prst="ellipse">
            <a:avLst/>
          </a:prstGeom>
          <a:solidFill>
            <a:srgbClr val="FFC05E"/>
          </a:solidFill>
          <a:ln>
            <a:solidFill>
              <a:srgbClr val="FFC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380744" y="1901952"/>
            <a:ext cx="91440" cy="91440"/>
          </a:xfrm>
          <a:prstGeom prst="ellipse">
            <a:avLst/>
          </a:prstGeom>
          <a:solidFill>
            <a:srgbClr val="C6FF58"/>
          </a:solidFill>
          <a:ln>
            <a:solidFill>
              <a:srgbClr val="C6F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828800" y="1865376"/>
            <a:ext cx="43891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BCC6DD"/>
                </a:solidFill>
                <a:latin typeface="Aptos"/>
              </a:rPr>
              <a:t>hiremind.ai   /   deployed web 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514600"/>
            <a:ext cx="539496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181F37"/>
                </a:solidFill>
                <a:latin typeface="Aptos"/>
              </a:rPr>
              <a:t>Find a role that fits your skills.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971800"/>
            <a:ext cx="52120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A7691"/>
                </a:solidFill>
                <a:latin typeface="Aptos"/>
              </a:rPr>
              <a:t>Search roles • explore opportunities • manage your profile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560" y="3474720"/>
            <a:ext cx="5897880" cy="475488"/>
          </a:xfrm>
          <a:prstGeom prst="roundRect">
            <a:avLst/>
          </a:prstGeom>
          <a:solidFill>
            <a:srgbClr val="F6F8FD"/>
          </a:solidFill>
          <a:ln>
            <a:solidFill>
              <a:srgbClr val="E0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34440" y="3566160"/>
            <a:ext cx="21031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81F37"/>
                </a:solidFill>
                <a:latin typeface="Aptos"/>
              </a:rPr>
              <a:t>Data Analyst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3566160"/>
            <a:ext cx="192024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A7691"/>
                </a:solidFill>
                <a:latin typeface="Aptos"/>
              </a:rPr>
              <a:t>Nova Analytics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3566160"/>
            <a:ext cx="128016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1" i="0">
                <a:solidFill>
                  <a:srgbClr val="009188"/>
                </a:solidFill>
                <a:latin typeface="Aptos"/>
              </a:rPr>
              <a:t>SQL · Python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51560" y="4087368"/>
            <a:ext cx="5897880" cy="475488"/>
          </a:xfrm>
          <a:prstGeom prst="roundRect">
            <a:avLst/>
          </a:prstGeom>
          <a:solidFill>
            <a:srgbClr val="F6F8FD"/>
          </a:solidFill>
          <a:ln>
            <a:solidFill>
              <a:srgbClr val="E0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34440" y="4178807"/>
            <a:ext cx="21031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81F37"/>
                </a:solidFill>
                <a:latin typeface="Aptos"/>
              </a:rPr>
              <a:t>Software Engineer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4178807"/>
            <a:ext cx="192024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A7691"/>
                </a:solidFill>
                <a:latin typeface="Aptos"/>
              </a:rPr>
              <a:t>CloudSpring Technologies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0680" y="4178807"/>
            <a:ext cx="128016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1" i="0">
                <a:solidFill>
                  <a:srgbClr val="009188"/>
                </a:solidFill>
                <a:latin typeface="Aptos"/>
              </a:rPr>
              <a:t>C++ · APIs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51560" y="4700016"/>
            <a:ext cx="5897880" cy="475488"/>
          </a:xfrm>
          <a:prstGeom prst="roundRect">
            <a:avLst/>
          </a:prstGeom>
          <a:solidFill>
            <a:srgbClr val="F6F8FD"/>
          </a:solidFill>
          <a:ln>
            <a:solidFill>
              <a:srgbClr val="E0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234440" y="4791455"/>
            <a:ext cx="21031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81F37"/>
                </a:solidFill>
                <a:latin typeface="Aptos"/>
              </a:rPr>
              <a:t>ML Engineer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4791455"/>
            <a:ext cx="192024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A7691"/>
                </a:solidFill>
                <a:latin typeface="Aptos"/>
              </a:rPr>
              <a:t>GreenGrid 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40680" y="4791455"/>
            <a:ext cx="128016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1" i="0">
                <a:solidFill>
                  <a:srgbClr val="009188"/>
                </a:solidFill>
                <a:latin typeface="Aptos"/>
              </a:rPr>
              <a:t>Python · ML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5486400"/>
            <a:ext cx="5852160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 i="0">
                <a:solidFill>
                  <a:srgbClr val="BE4652"/>
                </a:solidFill>
                <a:latin typeface="Aptos"/>
              </a:rPr>
              <a:t>ILLUSTRATIVE LAYOUT — replace with actual product screenshot if desired.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26679" y="1737360"/>
            <a:ext cx="3611880" cy="1143000"/>
          </a:xfrm>
          <a:prstGeom prst="roundRect">
            <a:avLst/>
          </a:prstGeom>
          <a:solidFill>
            <a:srgbClr val="0B1023"/>
          </a:solidFill>
          <a:ln>
            <a:solidFill>
              <a:srgbClr val="0B10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046720" y="1993392"/>
            <a:ext cx="29260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C6FF58"/>
                </a:solidFill>
                <a:latin typeface="Aptos"/>
              </a:rPr>
              <a:t>01   FRONTEND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2359152"/>
            <a:ext cx="29260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8FAFF"/>
                </a:solidFill>
                <a:latin typeface="Aptos"/>
              </a:rPr>
              <a:t>Next.js • Vercel hosting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26679" y="3108960"/>
            <a:ext cx="3611880" cy="1143000"/>
          </a:xfrm>
          <a:prstGeom prst="roundRect">
            <a:avLst/>
          </a:prstGeom>
          <a:solidFill>
            <a:srgbClr val="0B1023"/>
          </a:solidFill>
          <a:ln>
            <a:solidFill>
              <a:srgbClr val="0B10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46720" y="3364992"/>
            <a:ext cx="29260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3CE0D8"/>
                </a:solidFill>
                <a:latin typeface="Aptos"/>
              </a:rPr>
              <a:t>02   BACKEND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3730752"/>
            <a:ext cx="29260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8FAFF"/>
                </a:solidFill>
                <a:latin typeface="Aptos"/>
              </a:rPr>
              <a:t>Convex • application data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26679" y="4480560"/>
            <a:ext cx="3611880" cy="1143000"/>
          </a:xfrm>
          <a:prstGeom prst="roundRect">
            <a:avLst/>
          </a:prstGeom>
          <a:solidFill>
            <a:srgbClr val="E7EFFF"/>
          </a:solidFill>
          <a:ln>
            <a:solidFill>
              <a:srgbClr val="E7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046720" y="4736592"/>
            <a:ext cx="29260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5C49DB"/>
                </a:solidFill>
                <a:latin typeface="Aptos"/>
              </a:rPr>
              <a:t>03   DEMO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0" y="5102352"/>
            <a:ext cx="29260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81F37"/>
                </a:solidFill>
                <a:latin typeface="Aptos"/>
              </a:rPr>
              <a:t>Open live deployment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19672"/>
            <a:ext cx="36576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 i="0">
                <a:solidFill>
                  <a:srgbClr val="6A7691"/>
                </a:solidFill>
                <a:latin typeface="Aptos"/>
              </a:rPr>
              <a:t>HIREMIND.AI     /     IIT GUWAHATI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6A7691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73152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C6FF58"/>
                </a:solidFill>
                <a:latin typeface="Aptos"/>
              </a:rPr>
              <a:t>11  /  PROJECT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8FAFF"/>
                </a:solidFill>
                <a:latin typeface="Aptos"/>
              </a:rPr>
              <a:t>Built. Integrated. Deployed.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7899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BCC6DD"/>
                </a:solidFill>
                <a:latin typeface="Aptos"/>
              </a:rPr>
              <a:t>HireMind.ai brings data, recommendation logic and a web experience into one project.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36576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 i="0">
                <a:solidFill>
                  <a:srgbClr val="7E8DAE"/>
                </a:solidFill>
                <a:latin typeface="Aptos"/>
              </a:rPr>
              <a:t>HIREMIND.AI     /     IIT GUWAHATI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7E8DAE"/>
                </a:solidFill>
                <a:latin typeface="Apto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3383280" cy="1325880"/>
          </a:xfrm>
          <a:prstGeom prst="roundRect">
            <a:avLst/>
          </a:prstGeom>
          <a:solidFill>
            <a:srgbClr val="151D39"/>
          </a:solidFill>
          <a:ln>
            <a:solidFill>
              <a:srgbClr val="151D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965960"/>
            <a:ext cx="64008" cy="1325880"/>
          </a:xfrm>
          <a:prstGeom prst="rect">
            <a:avLst/>
          </a:prstGeom>
          <a:solidFill>
            <a:srgbClr val="C6FF58"/>
          </a:solidFill>
          <a:ln>
            <a:solidFill>
              <a:srgbClr val="C6F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212848"/>
            <a:ext cx="28803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C6FF58"/>
                </a:solidFill>
                <a:latin typeface="Aptos"/>
              </a:rPr>
              <a:t>HIMANSHU RAUNIYAR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06040"/>
            <a:ext cx="288036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BCC6DD"/>
                </a:solidFill>
                <a:latin typeface="Aptos"/>
              </a:rPr>
              <a:t>Data preparation • ML features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BCC6DD"/>
                </a:solidFill>
                <a:latin typeface="Aptos"/>
              </a:rPr>
              <a:t>Recommendation logic • schema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79" y="1965960"/>
            <a:ext cx="3383280" cy="1325880"/>
          </a:xfrm>
          <a:prstGeom prst="roundRect">
            <a:avLst/>
          </a:prstGeom>
          <a:solidFill>
            <a:srgbClr val="151D39"/>
          </a:solidFill>
          <a:ln>
            <a:solidFill>
              <a:srgbClr val="151D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26279" y="1965960"/>
            <a:ext cx="64008" cy="1325880"/>
          </a:xfrm>
          <a:prstGeom prst="rect">
            <a:avLst/>
          </a:prstGeom>
          <a:solidFill>
            <a:srgbClr val="3CE0D8"/>
          </a:solidFill>
          <a:ln>
            <a:solidFill>
              <a:srgbClr val="3C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79" y="2212848"/>
            <a:ext cx="28803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3CE0D8"/>
                </a:solidFill>
                <a:latin typeface="Aptos"/>
              </a:rPr>
              <a:t>PIYUSH MEENA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2606040"/>
            <a:ext cx="288036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BCC6DD"/>
                </a:solidFill>
                <a:latin typeface="Aptos"/>
              </a:rPr>
              <a:t>Backend integration • Convex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BCC6DD"/>
                </a:solidFill>
                <a:latin typeface="Aptos"/>
              </a:rPr>
              <a:t>Data layer • graph-related work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19" y="1965960"/>
            <a:ext cx="3383280" cy="1325880"/>
          </a:xfrm>
          <a:prstGeom prst="roundRect">
            <a:avLst/>
          </a:prstGeom>
          <a:solidFill>
            <a:srgbClr val="151D39"/>
          </a:solidFill>
          <a:ln>
            <a:solidFill>
              <a:srgbClr val="151D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75319" y="1965960"/>
            <a:ext cx="64008" cy="1325880"/>
          </a:xfrm>
          <a:prstGeom prst="rect">
            <a:avLst/>
          </a:prstGeom>
          <a:solidFill>
            <a:srgbClr val="9778FF"/>
          </a:solidFill>
          <a:ln>
            <a:solidFill>
              <a:srgbClr val="97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03919" y="2212848"/>
            <a:ext cx="28803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9778FF"/>
                </a:solidFill>
                <a:latin typeface="Aptos"/>
              </a:rPr>
              <a:t>KANHEYA VERMA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19" y="2606040"/>
            <a:ext cx="288036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BCC6DD"/>
                </a:solidFill>
                <a:latin typeface="Aptos"/>
              </a:rPr>
              <a:t>Frontend development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BCC6DD"/>
                </a:solidFill>
                <a:latin typeface="Aptos"/>
              </a:rPr>
              <a:t>User-facing web experience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886200"/>
            <a:ext cx="10424160" cy="1051560"/>
          </a:xfrm>
          <a:prstGeom prst="roundRect">
            <a:avLst/>
          </a:prstGeom>
          <a:solidFill>
            <a:srgbClr val="1D2748"/>
          </a:solidFill>
          <a:ln>
            <a:solidFill>
              <a:srgbClr val="1D2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97280" y="4160520"/>
            <a:ext cx="98755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F8FAFF"/>
                </a:solidFill>
                <a:latin typeface="Aptos"/>
              </a:rPr>
              <a:t>A deployed foundation for more relevant job discovery.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440680"/>
            <a:ext cx="1033272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C6FF58"/>
                </a:solidFill>
                <a:latin typeface="Aptos"/>
              </a:rPr>
              <a:t>Thank you  /  Questions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5989320"/>
            <a:ext cx="98755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BCC6DD"/>
                </a:solidFill>
                <a:latin typeface="Aptos"/>
              </a:rPr>
              <a:t>MSc Mathematics &amp; Computing  •  Indian Institute of Technology Guwahati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1231</Words>
  <Application>Microsoft Office PowerPoint</Application>
  <PresentationFormat>Widescreen</PresentationFormat>
  <Paragraphs>272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Himanshu Rauniyar</cp:lastModifiedBy>
  <cp:revision>2</cp:revision>
  <dcterms:created xsi:type="dcterms:W3CDTF">2013-01-27T09:14:16Z</dcterms:created>
  <dcterms:modified xsi:type="dcterms:W3CDTF">2026-10-30T03:27:58Z</dcterms:modified>
  <cp:category/>
</cp:coreProperties>
</file>